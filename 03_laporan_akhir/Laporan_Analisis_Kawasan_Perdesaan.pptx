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Jumlah Kawasan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7BC62"/>
              </a:solidFill>
              <a:effectLst/>
            </c:spPr>
          </c:dPt>
          <c:dPt>
            <c:idx val="1"/>
            <c:bubble3D val="0"/>
            <c:spPr>
              <a:solidFill>
                <a:srgbClr val="D9A441"/>
              </a:solidFill>
              <a:effectLst/>
            </c:spPr>
          </c:dPt>
          <c:dPt>
            <c:idx val="2"/>
            <c:bubble3D val="0"/>
            <c:spPr>
              <a:solidFill>
                <a:srgbClr val="2C5F2D"/>
              </a:solidFill>
              <a:effectLst/>
            </c:spPr>
          </c:dPt>
          <c:dPt>
            <c:idx val="3"/>
            <c:bubble3D val="0"/>
            <c:spPr>
              <a:solidFill>
                <a:srgbClr val="B5651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Mandiri</c:v>
                </c:pt>
                <c:pt idx="1">
                  <c:v>Konsolidasi</c:v>
                </c:pt>
                <c:pt idx="2">
                  <c:v>Berdaya Saing</c:v>
                </c:pt>
                <c:pt idx="3">
                  <c:v>Inisiasi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13</c:v>
                </c:pt>
                <c:pt idx="1">
                  <c:v>12</c:v>
                </c:pt>
                <c:pt idx="2">
                  <c:v>4</c:v>
                </c:pt>
                <c:pt idx="3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Nilai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430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Toba</c:v>
                  </c:pt>
                  <c:pt idx="1">
                    <c:v>Tabanan</c:v>
                  </c:pt>
                  <c:pt idx="2">
                    <c:v>Wonosobo</c:v>
                  </c:pt>
                  <c:pt idx="3">
                    <c:v>Karanganyar</c:v>
                  </c:pt>
                  <c:pt idx="4">
                    <c:v>Tanah Bumbu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73.72</c:v>
                </c:pt>
                <c:pt idx="1">
                  <c:v>75.05</c:v>
                </c:pt>
                <c:pt idx="2">
                  <c:v>75.29</c:v>
                </c:pt>
                <c:pt idx="3">
                  <c:v>75.41</c:v>
                </c:pt>
                <c:pt idx="4">
                  <c:v>75.84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430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Rata-rata Skor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</c:dPt>
          <c:dPt>
            <c:idx val="3"/>
            <c:bubble3D val="0"/>
            <c:spPr>
              <a:solidFill>
                <a:srgbClr val="B5651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Manajemen dan Tata Kelola</c:v>
                </c:pt>
                <c:pt idx="1">
                  <c:v>Sarana dan Prasarana</c:v>
                </c:pt>
                <c:pt idx="2">
                  <c:v>Interaksi Kawasan</c:v>
                </c:pt>
                <c:pt idx="3">
                  <c:v>Aktivitas Ekonomi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20.33</c:v>
                </c:pt>
                <c:pt idx="1">
                  <c:v>16.27</c:v>
                </c:pt>
                <c:pt idx="2">
                  <c:v>12.08</c:v>
                </c:pt>
                <c:pt idx="3">
                  <c:v>5.36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Nilai</c:v>
                </c:pt>
              </c:strCache>
            </c:strRef>
          </c:tx>
          <c:spPr>
            <a:solidFill>
              <a:srgbClr val="2C5F2D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xVal>
            <c:numRef>
              <c:f>Sheet1!$A$2:$A$31</c:f>
              <c:numCache>
                <c:formatCode>General</c:formatCode>
                <c:ptCount val="30"/>
                <c:pt idx="0">
                  <c:v>16.78</c:v>
                </c:pt>
                <c:pt idx="1">
                  <c:v>12.54</c:v>
                </c:pt>
                <c:pt idx="2">
                  <c:v>10.7</c:v>
                </c:pt>
                <c:pt idx="3">
                  <c:v>16.64</c:v>
                </c:pt>
                <c:pt idx="4">
                  <c:v>13.02</c:v>
                </c:pt>
                <c:pt idx="5">
                  <c:v>16.1</c:v>
                </c:pt>
                <c:pt idx="6">
                  <c:v>8.9</c:v>
                </c:pt>
                <c:pt idx="7">
                  <c:v>4.32</c:v>
                </c:pt>
                <c:pt idx="8">
                  <c:v>8.46</c:v>
                </c:pt>
                <c:pt idx="9">
                  <c:v>6.78</c:v>
                </c:pt>
                <c:pt idx="10">
                  <c:v>3.46</c:v>
                </c:pt>
                <c:pt idx="11">
                  <c:v>8.38</c:v>
                </c:pt>
                <c:pt idx="12">
                  <c:v>3.2</c:v>
                </c:pt>
                <c:pt idx="13">
                  <c:v>6.7</c:v>
                </c:pt>
                <c:pt idx="14">
                  <c:v>7.54</c:v>
                </c:pt>
                <c:pt idx="15">
                  <c:v>3.6</c:v>
                </c:pt>
                <c:pt idx="16">
                  <c:v>0.72</c:v>
                </c:pt>
                <c:pt idx="17">
                  <c:v>6.88</c:v>
                </c:pt>
                <c:pt idx="18">
                  <c:v>0</c:v>
                </c:pt>
                <c:pt idx="19">
                  <c:v>0.72</c:v>
                </c:pt>
                <c:pt idx="20">
                  <c:v>0</c:v>
                </c:pt>
                <c:pt idx="21">
                  <c:v>2.08</c:v>
                </c:pt>
                <c:pt idx="22">
                  <c:v>0</c:v>
                </c:pt>
                <c:pt idx="23">
                  <c:v>2.48</c:v>
                </c:pt>
                <c:pt idx="24">
                  <c:v>0</c:v>
                </c:pt>
                <c:pt idx="25">
                  <c:v>0.72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xVal>
          <c:yVal>
            <c:numRef>
              <c:f>Sheet1!$B$2:$B$31</c:f>
              <c:numCache>
                <c:formatCode>General</c:formatCode>
                <c:ptCount val="30"/>
                <c:pt idx="0">
                  <c:v>75.41</c:v>
                </c:pt>
                <c:pt idx="1">
                  <c:v>75.84</c:v>
                </c:pt>
                <c:pt idx="2">
                  <c:v>75.29</c:v>
                </c:pt>
                <c:pt idx="3">
                  <c:v>75.05</c:v>
                </c:pt>
                <c:pt idx="4">
                  <c:v>73.72</c:v>
                </c:pt>
                <c:pt idx="5">
                  <c:v>72.02</c:v>
                </c:pt>
                <c:pt idx="6">
                  <c:v>70.2</c:v>
                </c:pt>
                <c:pt idx="7">
                  <c:v>65.28</c:v>
                </c:pt>
                <c:pt idx="8">
                  <c:v>64.56</c:v>
                </c:pt>
                <c:pt idx="9">
                  <c:v>64.41</c:v>
                </c:pt>
                <c:pt idx="10">
                  <c:v>59.65</c:v>
                </c:pt>
                <c:pt idx="11">
                  <c:v>58.62</c:v>
                </c:pt>
                <c:pt idx="12">
                  <c:v>58.61</c:v>
                </c:pt>
                <c:pt idx="13">
                  <c:v>57.09</c:v>
                </c:pt>
                <c:pt idx="14">
                  <c:v>54.74</c:v>
                </c:pt>
                <c:pt idx="15">
                  <c:v>52.78</c:v>
                </c:pt>
                <c:pt idx="16">
                  <c:v>52.53</c:v>
                </c:pt>
                <c:pt idx="17">
                  <c:v>49.88</c:v>
                </c:pt>
                <c:pt idx="18">
                  <c:v>48.37</c:v>
                </c:pt>
                <c:pt idx="19">
                  <c:v>47.61</c:v>
                </c:pt>
                <c:pt idx="20">
                  <c:v>45.79</c:v>
                </c:pt>
                <c:pt idx="21">
                  <c:v>44.99</c:v>
                </c:pt>
                <c:pt idx="22">
                  <c:v>44.56</c:v>
                </c:pt>
                <c:pt idx="23">
                  <c:v>42.87</c:v>
                </c:pt>
                <c:pt idx="24">
                  <c:v>40.05</c:v>
                </c:pt>
                <c:pt idx="25">
                  <c:v>39.64</c:v>
                </c:pt>
                <c:pt idx="26">
                  <c:v>34.6</c:v>
                </c:pt>
                <c:pt idx="27">
                  <c:v>32.02</c:v>
                </c:pt>
                <c:pt idx="28">
                  <c:v>30.59</c:v>
                </c:pt>
                <c:pt idx="29">
                  <c:v>14.7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Skor Dimensi Aktivitas Ekonomi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Total Nilai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Manajemen dan Tata Kelola</c:v>
                </c:pt>
              </c:strCache>
            </c:strRef>
          </c:tx>
          <c:spPr>
            <a:solidFill>
              <a:srgbClr val="2C5F2D"/>
            </a:solidFill>
            <a:ln w="31750" cap="flat">
              <a:solidFill>
                <a:srgbClr val="2C5F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Inisiasi</c:v>
                  </c:pt>
                  <c:pt idx="1">
                    <c:v>Konsolidasi</c:v>
                  </c:pt>
                  <c:pt idx="2">
                    <c:v>Mandiri</c:v>
                  </c:pt>
                  <c:pt idx="3">
                    <c:v>Berdaya Saing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2.04</c:v>
                </c:pt>
                <c:pt idx="1">
                  <c:v>15.97</c:v>
                </c:pt>
                <c:pt idx="2">
                  <c:v>23.68</c:v>
                </c:pt>
                <c:pt idx="3">
                  <c:v>27.12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Sarana dan Prasarana</c:v>
                </c:pt>
              </c:strCache>
            </c:strRef>
          </c:tx>
          <c:spPr>
            <a:solidFill>
              <a:srgbClr val="97BC62"/>
            </a:solidFill>
            <a:ln w="31750" cap="flat">
              <a:solidFill>
                <a:srgbClr val="97BC6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7BC62"/>
              </a:solidFill>
              <a:ln w="9525" cap="flat">
                <a:solidFill>
                  <a:srgbClr val="97BC6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Inisiasi</c:v>
                  </c:pt>
                  <c:pt idx="1">
                    <c:v>Konsolidasi</c:v>
                  </c:pt>
                  <c:pt idx="2">
                    <c:v>Mandiri</c:v>
                  </c:pt>
                  <c:pt idx="3">
                    <c:v>Berdaya Saing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8.86</c:v>
                </c:pt>
                <c:pt idx="1">
                  <c:v>14.9</c:v>
                </c:pt>
                <c:pt idx="2">
                  <c:v>17.48</c:v>
                </c:pt>
                <c:pt idx="3">
                  <c:v>18.33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Interaksi Kawasan</c:v>
                </c:pt>
              </c:strCache>
            </c:strRef>
          </c:tx>
          <c:spPr>
            <a:solidFill>
              <a:srgbClr val="D9A441"/>
            </a:solidFill>
            <a:ln w="31750" cap="flat">
              <a:solidFill>
                <a:srgbClr val="D9A4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A441"/>
              </a:solidFill>
              <a:ln w="9525" cap="flat">
                <a:solidFill>
                  <a:srgbClr val="D9A4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Inisiasi</c:v>
                  </c:pt>
                  <c:pt idx="1">
                    <c:v>Konsolidasi</c:v>
                  </c:pt>
                  <c:pt idx="2">
                    <c:v>Mandiri</c:v>
                  </c:pt>
                  <c:pt idx="3">
                    <c:v>Berdaya Saing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3.8</c:v>
                </c:pt>
                <c:pt idx="1">
                  <c:v>9.8</c:v>
                </c:pt>
                <c:pt idx="2">
                  <c:v>13.69</c:v>
                </c:pt>
                <c:pt idx="3">
                  <c:v>15.78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Aktivitas Ekonomi</c:v>
                </c:pt>
              </c:strCache>
            </c:strRef>
          </c:tx>
          <c:spPr>
            <a:solidFill>
              <a:srgbClr val="B5651D"/>
            </a:solidFill>
            <a:ln w="31750" cap="flat">
              <a:solidFill>
                <a:srgbClr val="B5651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5651D"/>
              </a:solidFill>
              <a:ln w="9525" cap="flat">
                <a:solidFill>
                  <a:srgbClr val="B5651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Inisiasi</c:v>
                  </c:pt>
                  <c:pt idx="1">
                    <c:v>Konsolidasi</c:v>
                  </c:pt>
                  <c:pt idx="2">
                    <c:v>Mandiri</c:v>
                  </c:pt>
                  <c:pt idx="3">
                    <c:v>Berdaya Saing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1.07</c:v>
                </c:pt>
                <c:pt idx="2">
                  <c:v>7.01</c:v>
                </c:pt>
                <c:pt idx="3">
                  <c:v>14.16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Skor Sarana &amp; Prasarana</c:v>
                </c:pt>
              </c:strCache>
            </c:strRef>
          </c:tx>
          <c:spPr>
            <a:solidFill>
              <a:srgbClr val="B5651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430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Agromina Wisata</c:v>
                  </c:pt>
                  <c:pt idx="1">
                    <c:v>Sahu Timur</c:v>
                  </c:pt>
                  <c:pt idx="2">
                    <c:v>Kec. Gondang</c:v>
                  </c:pt>
                  <c:pt idx="3">
                    <c:v>Merauke</c:v>
                  </c:pt>
                  <c:pt idx="4">
                    <c:v>Misool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13.51</c:v>
                </c:pt>
                <c:pt idx="1">
                  <c:v>12.9</c:v>
                </c:pt>
                <c:pt idx="2">
                  <c:v>12.82</c:v>
                </c:pt>
                <c:pt idx="3">
                  <c:v>11.93</c:v>
                </c:pt>
                <c:pt idx="4">
                  <c:v>8.86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430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88720"/>
            <a:ext cx="4297680" cy="4297680"/>
          </a:xfrm>
          <a:prstGeom prst="ellipse">
            <a:avLst/>
          </a:prstGeom>
          <a:solidFill>
            <a:srgbClr val="6E9B4F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389120"/>
            <a:ext cx="4389120" cy="4389120"/>
          </a:xfrm>
          <a:prstGeom prst="ellipse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HASIL ANALISIS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Indeks Pembangunan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Kawasan Perdesaan di Indonesia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 atas 30 Kawasan Perdesaan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mencakup Dimensi Manajemen, Sarana, Interaksi, dan Ekonomi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1248" y="5074920"/>
            <a:ext cx="1463040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57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Chairul Fahsya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623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ISI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Laporan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3736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7360" y="2148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 dan rumusan masalah analisis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569464"/>
            <a:ext cx="9966960" cy="0"/>
          </a:xfrm>
          <a:prstGeom prst="line">
            <a:avLst/>
          </a:prstGeom>
          <a:noFill/>
          <a:ln w="12700">
            <a:solidFill>
              <a:srgbClr val="DDE5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791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737360" y="26791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304495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data, struktur dataset, alat &amp; teknik analisis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465576"/>
            <a:ext cx="9966960" cy="0"/>
          </a:xfrm>
          <a:prstGeom prst="line">
            <a:avLst/>
          </a:prstGeom>
          <a:noFill/>
          <a:ln w="12700">
            <a:solidFill>
              <a:srgbClr val="DDE5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753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737360" y="35753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Analisis Data (EDA)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37360" y="394106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dan temuan utama untuk setiap pertanyaan analisis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361688"/>
            <a:ext cx="9966960" cy="0"/>
          </a:xfrm>
          <a:prstGeom prst="line">
            <a:avLst/>
          </a:prstGeom>
          <a:noFill/>
          <a:ln w="12700">
            <a:solidFill>
              <a:srgbClr val="DDE5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471416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737360" y="447141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483717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Tindakan yang diusulkan berdasarkan temuan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9966960" cy="0"/>
          </a:xfrm>
          <a:prstGeom prst="line">
            <a:avLst/>
          </a:prstGeom>
          <a:noFill/>
          <a:ln w="12700">
            <a:solidFill>
              <a:srgbClr val="DDE5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36752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737360" y="53675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37360" y="573328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hasil dan temuan utama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Indeks Pembangunan Kawasan Perdesaan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PENDAHULUAN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Pembangunan kawasan perdesaan di Indonesia diukur melalui Indeks Pembangunan Kawasan Perdesaan — sebuah skor gabungan dari empat dimensi: Manajemen dan Tata Kelola, Sarana dan Prasarana, Interaksi Kawasan, dan Aktivitas Ekonomi.</a:t>
            </a:r>
            <a:endParaRPr lang="en-US" sz="1450" dirty="0"/>
          </a:p>
          <a:p>
            <a:pPr indent="0" marL="0">
              <a:lnSpc>
                <a:spcPts val="2300"/>
              </a:lnSpc>
              <a:buNone/>
            </a:pPr>
            <a:endParaRPr lang="en-US" sz="14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Berdasarkan skor gabungan (Total Nilai), setiap kawasan diklasifikasikan ke dalam salah satu dari empat status perkembangan: Inisiasi, Konsolidasi, Mandiri, atau Berdaya Saing.</a:t>
            </a:r>
            <a:endParaRPr lang="en-US" sz="1450" dirty="0"/>
          </a:p>
          <a:p>
            <a:pPr indent="0" marL="0">
              <a:lnSpc>
                <a:spcPts val="2300"/>
              </a:lnSpc>
              <a:buNone/>
            </a:pPr>
            <a:endParaRPr lang="en-US" sz="14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kebijakan dan alokasi anggaran pembangunan tepat sasaran, pemangku kepentingan perlu memahami pola sebaran skor ini secara data-driven — dimensi mana yang paling berpengaruh, dan kawasan mana yang paling membutuhkan intervensi.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52360" y="178308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EFF3EA"/>
          </a:solidFill>
          <a:ln/>
        </p:spPr>
      </p:sp>
      <p:sp>
        <p:nvSpPr>
          <p:cNvPr id="6" name="Text 4"/>
          <p:cNvSpPr/>
          <p:nvPr/>
        </p:nvSpPr>
        <p:spPr>
          <a:xfrm>
            <a:off x="7726680" y="1892808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89720" y="17830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Kawasan Perdesaan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52360" y="320040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EFF3EA"/>
          </a:solidFill>
          <a:ln/>
        </p:spPr>
      </p:sp>
      <p:sp>
        <p:nvSpPr>
          <p:cNvPr id="9" name="Text 7"/>
          <p:cNvSpPr/>
          <p:nvPr/>
        </p:nvSpPr>
        <p:spPr>
          <a:xfrm>
            <a:off x="7726680" y="3310128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189720" y="32004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 Penilaian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52360" y="461772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EFF3EA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4727448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9189720" y="46177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Status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Indeks Pembangunan Kawasan Perdesaan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PENDAHULUAN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Masalah / Pertanyaan Analisis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719072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distribusi klasifikasi Status pembangunan kawasan perdesaan pada keseluruhan data?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70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65176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Provinsi atau Kabupaten manakah yang memiliki rata-rata Total Nilai tertinggi?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0273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027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584448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keempat dimensi yang diukur, dimensi manakah yang menyumbang rata-rata proporsi nilai tertinggi terhadap Total Nilai?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53542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535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517136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terdapat korelasi positif antara tingginya skor Dimensi Aktivitas Ekonomi dengan tercapainya status kawasan yang berdaya saing?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46811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468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5449824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Kawasan perdesaan mana saja yang memiliki skor Dimensi Sarana dan Prasarana terendah sehingga memerlukan prioritas perbaikan infrastruktur segera?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Indeks Pembangunan Kawasan Perdesaan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METODOLOGI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Sumber Data &amp; Struktur 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internal hasil pengukuran Indeks Pembangunan Kawasan Perdesaan, mencakup 30 kawasan perdesaan yang tersebar di berbagai provinsi di Indonesia.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Dataset (12 kolom, 30 baris)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56432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ID Provinsi, Provinsi, ID Kabupaten, Kabupaten, Nama Kawasan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kolom skor dimensi: Manajemen dan Tata Kelola, Sarana dan Prasarana, Interaksi Kawasan, Aktivitas Ekonomi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Nilai (skor gabungan) dan Status (Inisiasi / Konsolidasi / Mandiri / Berdaya Saing)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49440" y="1691640"/>
            <a:ext cx="4663440" cy="4160520"/>
          </a:xfrm>
          <a:prstGeom prst="roundRect">
            <a:avLst>
              <a:gd name="adj" fmla="val 2198"/>
            </a:avLst>
          </a:prstGeom>
          <a:solidFill>
            <a:srgbClr val="EFF3EA"/>
          </a:solidFill>
          <a:ln/>
        </p:spPr>
      </p:sp>
      <p:sp>
        <p:nvSpPr>
          <p:cNvPr id="9" name="Text 7"/>
          <p:cNvSpPr/>
          <p:nvPr/>
        </p:nvSpPr>
        <p:spPr>
          <a:xfrm>
            <a:off x="726948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Data Cleaning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69480" y="23317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diverifikasi terhadap 6 kategori masalah sebelum dianalisis: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69480" y="2880360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89520" y="28803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69480" y="3246120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0" y="324612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duplikat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269480" y="3611880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89520" y="361188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value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269480" y="3977640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89520" y="397764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value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269480" y="4343400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89520" y="434340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269480" y="4709160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89520" y="47091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value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269480" y="5166360"/>
            <a:ext cx="4023360" cy="0"/>
          </a:xfrm>
          <a:prstGeom prst="line">
            <a:avLst/>
          </a:prstGeom>
          <a:noFill/>
          <a:ln w="12700">
            <a:solidFill>
              <a:srgbClr val="D5DE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528523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Hasil: data bersih. Satu outlier terdeteksi (Kawasan Misool, metode IQR) — setelah diverifikasi tetap valid &amp; dipertahankan karena mencerminkan kondisi riil kawasan tahap Inisiasi.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Indeks Pembangunan Kawasan Perdesaan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METODOLOGI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Alat dan Teknik Analisis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EFF3E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9339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 &amp; PivotChart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633472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— agregasi dan visualisasi data secara interaktif, dilengkapi slicer untuk filter berdasarkan Status kawasan.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EFF3EA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011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199339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Deskriptif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37960" y="2633472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modus, standar deviasi, varians, skewness, dan kurtosis untuk memahami pola sebaran tiap dimensi.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EFF3E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51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A44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23367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Korelasi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4873752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Korelasi Pearson antar dimensi untuk mengukur kekuatan hubungan antar variabel.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EFF3EA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251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A4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423367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Outlier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37960" y="4873752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IQR (Interquartile Range) untuk mengidentifikasi nilai ekstrem pada tiap dimensi.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Indeks Pembangunan Kawasan Perdesaan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HASIL ANALISIS DATA (EDA)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Pertanyaan 1: Distribusi Status Kawasan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6309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691640"/>
            <a:ext cx="4572000" cy="4480560"/>
          </a:xfrm>
          <a:prstGeom prst="roundRect">
            <a:avLst>
              <a:gd name="adj" fmla="val 2041"/>
            </a:avLst>
          </a:prstGeom>
          <a:solidFill>
            <a:srgbClr val="EFF3EA"/>
          </a:solidFill>
          <a:ln/>
        </p:spPr>
      </p:sp>
      <p:sp>
        <p:nvSpPr>
          <p:cNvPr id="6" name="Shape 3"/>
          <p:cNvSpPr/>
          <p:nvPr/>
        </p:nvSpPr>
        <p:spPr>
          <a:xfrm>
            <a:off x="7296912" y="194767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7296912" y="194767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296912" y="2423160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&amp; 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96912" y="2788920"/>
            <a:ext cx="4059936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30 kawasan: Mandiri 13 (43%) dan Konsolidasi 12 (40%) mendominasi — bersama keduanya mencakup 83% dari seluruh kawasan.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 4 kawasan (13%) yang mencapai status tertinggi, Berdaya Saing.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1 kawasan (3%) yang masih di tahap paling awal, Inisiasi — yaitu Kawasan Perdesaan Misool, yang juga teridentifikasi sebagai outlier pada tahap data cleaning.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Indeks Pembangunan Kawasan Perdesaan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HASIL ANALISIS DATA (EDA)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Pertanyaan 2: Wilayah dengan Total Nilai Tertinggi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6309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1722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Kabupaten berdasarkan rata-rata Total Nilai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040880" y="1691640"/>
            <a:ext cx="4572000" cy="4480560"/>
          </a:xfrm>
          <a:prstGeom prst="roundRect">
            <a:avLst>
              <a:gd name="adj" fmla="val 2041"/>
            </a:avLst>
          </a:prstGeom>
          <a:solidFill>
            <a:srgbClr val="EFF3EA"/>
          </a:solidFill>
          <a:ln/>
        </p:spPr>
      </p:sp>
      <p:sp>
        <p:nvSpPr>
          <p:cNvPr id="7" name="Shape 4"/>
          <p:cNvSpPr/>
          <p:nvPr/>
        </p:nvSpPr>
        <p:spPr>
          <a:xfrm>
            <a:off x="7296912" y="194767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7296912" y="194767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2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296912" y="2423160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&amp; Insight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96912" y="2788920"/>
            <a:ext cx="4059936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level Kabupaten: Tanah Bumbu, Karanganyar, Wonosobo, dan Tabanan menempati posisi teratas dan seluruhnya berstatus Berdaya Saing. Toba (peringkat 5) berstatus Mandiri namun skornya sangat dekat dengan ambang Berdaya Saing.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level Provinsi: Sumatera Utara (73.72), Jambi (70.2), dan Jawa Tengah (69.77) memiliki rata-rata Total Nilai tertinggi.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Kelima kabupaten teratas ini berpotensi dijadikan benchmark praktik baik.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Indeks Pembangunan Kawasan Perdesaan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HASIL ANALISIS DATA (EDA)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Pertanyaan 3: Kontribusi Tiap Dimensi terhadap Total Nilai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6309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691640"/>
            <a:ext cx="4572000" cy="4480560"/>
          </a:xfrm>
          <a:prstGeom prst="roundRect">
            <a:avLst>
              <a:gd name="adj" fmla="val 2041"/>
            </a:avLst>
          </a:prstGeom>
          <a:solidFill>
            <a:srgbClr val="EFF3EA"/>
          </a:solidFill>
          <a:ln/>
        </p:spPr>
      </p:sp>
      <p:sp>
        <p:nvSpPr>
          <p:cNvPr id="6" name="Shape 3"/>
          <p:cNvSpPr/>
          <p:nvPr/>
        </p:nvSpPr>
        <p:spPr>
          <a:xfrm>
            <a:off x="7296912" y="194767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7296912" y="194767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3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296912" y="2423160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&amp; 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96912" y="2788920"/>
            <a:ext cx="4059936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dan Tata Kelola menyumbang proporsi rata-rata TERTINGGI terhadap Total Nilai (37.6%), diikuti Sarana dan Prasarana (30.1%) dan Interaksi Kawasan (22.4%).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Ekonomi menyumbang proporsi PALING KECIL (9.9%) — dimensi ini punya “ruang tumbuh” paling besar dan jadi kandidat utama untuk ditingkatkan (lihat juga Pertanyaan 4).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Indeks Pembangunan Kawasan Perdesaan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HASIL ANALISIS DATA (EDA)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Pertanyaan 4: Korelasi Aktivitas Ekonomi dengan Status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6309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691640"/>
            <a:ext cx="4572000" cy="4480560"/>
          </a:xfrm>
          <a:prstGeom prst="roundRect">
            <a:avLst>
              <a:gd name="adj" fmla="val 2041"/>
            </a:avLst>
          </a:prstGeom>
          <a:solidFill>
            <a:srgbClr val="EFF3EA"/>
          </a:solidFill>
          <a:ln/>
        </p:spPr>
      </p:sp>
      <p:sp>
        <p:nvSpPr>
          <p:cNvPr id="6" name="Shape 3"/>
          <p:cNvSpPr/>
          <p:nvPr/>
        </p:nvSpPr>
        <p:spPr>
          <a:xfrm>
            <a:off x="7296912" y="194767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7296912" y="194767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4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296912" y="2423160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&amp; 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96912" y="2788920"/>
            <a:ext cx="4059936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Terdapat korelasi POSITIF YANG KUAT (r = 0.85) antara skor Aktivitas Ekonomi dan Total Nilai — pola pada scatter plot naik jelas dari kiri-bawah ke kanan-atas.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4 kawasan berstatus Berdaya Saing memiliki skor Aktivitas Ekonomi di atas 10.7, sedangkan seluruh kawasan Inisiasi/Konsolidasi skornya di bawah 6.9.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jarak (gap) yang cukup jelas di antara kedua kelompok ini, menguatkan dugaan bahwa Aktivitas Ekonomi adalah salah satu pembeda paling nyata menuju status Berdaya Saing.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Indeks Pembangunan Kawasan Perdesaan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HASIL ANALISIS DATA (EDA)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Temuan Pendukung: Perkembangan Tiap Dimensi per Status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6309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691640"/>
            <a:ext cx="4572000" cy="4480560"/>
          </a:xfrm>
          <a:prstGeom prst="roundRect">
            <a:avLst>
              <a:gd name="adj" fmla="val 2041"/>
            </a:avLst>
          </a:prstGeom>
          <a:solidFill>
            <a:srgbClr val="EFF3EA"/>
          </a:solidFill>
          <a:ln/>
        </p:spPr>
      </p:sp>
      <p:sp>
        <p:nvSpPr>
          <p:cNvPr id="6" name="Shape 3"/>
          <p:cNvSpPr/>
          <p:nvPr/>
        </p:nvSpPr>
        <p:spPr>
          <a:xfrm>
            <a:off x="7296912" y="194767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7296912" y="194767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Pendukung P4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296912" y="2423160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&amp; 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96912" y="2788920"/>
            <a:ext cx="4059936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Keempat dimensi naik KONSISTEN dan monoton mengikuti urutan status — tidak ada dimensi yang turun di tengah jalan, menunjukkan klasifikasi Status memang koheren.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dan Tata Kelola punya rentang kenaikan paling besar (2.04 → 27.12).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Sarana dan Prasarana paling stabil (8.86 → 18.33) — infrastruktur dasar relatif lebih merata di semua level.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Ekonomi paling dramatis secara kualitatif: dari benar-benar 0 di Inisiasi menjadi 14.2 di Berdaya Saing.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Indeks Pembangunan Kawasan Perdesaan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HASIL ANALISIS DATA (EDA)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Pertanyaan 5: Kawasan Prioritas Perbaikan Infrastruktur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6309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1722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kawasan dengan skor Sarana &amp; Prasarana terendah (rata-rata nasional: 16.27)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040880" y="1691640"/>
            <a:ext cx="4572000" cy="4480560"/>
          </a:xfrm>
          <a:prstGeom prst="roundRect">
            <a:avLst>
              <a:gd name="adj" fmla="val 2041"/>
            </a:avLst>
          </a:prstGeom>
          <a:solidFill>
            <a:srgbClr val="EFF3EA"/>
          </a:solidFill>
          <a:ln/>
        </p:spPr>
      </p:sp>
      <p:sp>
        <p:nvSpPr>
          <p:cNvPr id="7" name="Shape 4"/>
          <p:cNvSpPr/>
          <p:nvPr/>
        </p:nvSpPr>
        <p:spPr>
          <a:xfrm>
            <a:off x="7296912" y="194767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7296912" y="194767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5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296912" y="2423160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&amp; Insight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96912" y="2788920"/>
            <a:ext cx="4059936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kawasan dengan skor Sarana dan Prasarana terendah: Misool (8.86), Penyangga Pangan Berkelanjutan Merauke (11.93), Agrowisata Pertanian Terpadu Kec. Gondang (12.82), Agropolitan Sahu Timur (12.9), dan Agromina Wisata (13.51).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Kelima skor ini jauh di bawah rata-rata nasional (16.27), menjadikannya prioritas utama untuk program perbaikan infrastruktur perdesaan.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Indeks Pembangunan Kawasan Perdesaan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REKOMENDASI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Rekomendasi Tindakan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EFF3E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109728" cy="21031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3134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Dorong Aktivitas Ekonomi Lokal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Fokuskan program pemberdayaan ekonomi (UMKM, akses pasar, pembiayaan) di kawasan Inisiasi &amp; Konsolidasi — dimensi ini paling berkorelasi dengan pencapaian status Berdaya Saing.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EFF3EA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1691640"/>
            <a:ext cx="109728" cy="21031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928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37960" y="23134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Percepat Perbaikan Infrastruktur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37960" y="28346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Prioritaskan 5 kawasan dengan skor Sarana dan Prasarana terendah (Misool, Merauke, Kec. Gondang, Sahu Timur, Agromina Wisata) untuk program infrastruktur dasar.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EFF3E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977640"/>
            <a:ext cx="109728" cy="21031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788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2960" y="45994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Jadikan Top Performer sebagai Benchmark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Pelajari &amp; replikasi praktik baik dari Tanah Bumbu, Karanganyar, Wonosobo, Tabanan, dan Toba ke kawasan lain yang setipe.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EFF3E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3977640"/>
            <a:ext cx="109728" cy="21031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1788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537960" y="45994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Perkuat Tata Kelola sebagai Fondasi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37960" y="51206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Manajemen dan Tata Kelola menyumbang proporsi terbesar (37.6%), penguatan kapasitas kelembagaan desa perlu jadi prioritas dasar sebelum meningkatkan dimensi lain.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Indeks Pembangunan Kawasan Perdesaan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KESIMPULAN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Hasil dan Temuan Utama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56232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kawasan (Mandiri + Konsolidasi) masih berada di level menengah; baru 13% yang mencapai status Berdaya Saing, dan 1 kawasan (Misool) masih di tahap Inisiasi.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2697480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7860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Tanah Bumbu, Karanganyar, Wonosobo, Tabanan, dan Toba adalah 5 kabupaten dengan Total Nilai tertinggi, seluruhnya (kecuali Toba) berstatus Berdaya Saing.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3538728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19856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dan Tata Kelola adalah kontributor terbesar terhadap Total Nilai (37.6%), sementara Aktivitas Ekonomi terkecil (9.9%) namun paling berkorelasi kuat (r = 0.85) dengan pencapaian status Berdaya Saing.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4379976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261104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kawasan (dipimpin Misool) memiliki skor Sarana dan Prasarana jauh di bawah rata-rata dan membutuhkan prioritas perbaikan infrastruktur segera.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522122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10235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mendukung strategi intervensi berjenjang: perkuat tata kelola sebagai fondasi, dorong aktivitas ekonomi sebagai akselerator status, sambil memperbaiki infrastruktur di kawasan tertinggal.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Indeks Pembangunan Kawasan Perdesaan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2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389120" cy="4389120"/>
          </a:xfrm>
          <a:prstGeom prst="ellipse">
            <a:avLst/>
          </a:prstGeom>
          <a:solidFill>
            <a:srgbClr val="6E9B4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41248" y="3703320"/>
            <a:ext cx="1463040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8862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Indeks Pembangunan Kawasan Perdesaan di Indonesia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Chairul Fahsya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September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2026-09-12T12:06:12Z</dcterms:created>
  <dcterms:modified xsi:type="dcterms:W3CDTF">2026-09-12T12:06:12Z</dcterms:modified>
</cp:coreProperties>
</file>